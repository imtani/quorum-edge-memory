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1188720"/>
            <a:ext cx="182880" cy="182880"/>
          </a:xfrm>
          <a:prstGeom prst="ellipse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" y="1188720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188720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39" y="1188720"/>
            <a:ext cx="182880" cy="182880"/>
          </a:xfrm>
          <a:prstGeom prst="ellipse">
            <a:avLst/>
          </a:prstGeom>
          <a:solidFill>
            <a:srgbClr val="7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Segoe UI"/>
              </a:rPr>
              <a:t>QUORUM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0" i="0">
                <a:solidFill>
                  <a:srgbClr val="9AA4B2"/>
                </a:solidFill>
                <a:latin typeface="Segoe UI"/>
              </a:rPr>
              <a:t>Offline-first team memory on Qdrant 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20440"/>
            <a:ext cx="73152" cy="100584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Code Cubicle 6.0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9AA4B2"/>
                </a:solidFill>
                <a:latin typeface="Segoe UI"/>
              </a:rPr>
              <a:t>PS3: AI-Powered Edge Memory &amp;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06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Tanishk  ·  Tushar  ·  Aayat  ·  Lakshya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778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7C8CFF"/>
                </a:solidFill>
                <a:latin typeface="Consolas"/>
              </a:rPr>
              <a:t>github.com/ImTani/quorum-edge-memory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9AA4B2"/>
                </a:solidFill>
                <a:latin typeface="Segoe UI"/>
              </a:rPr>
              <a:t>2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9AA4B2"/>
                </a:solidFill>
                <a:latin typeface="Segoe UI"/>
              </a:rPr>
              <a:t>QUORUM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One deadline, two versions, no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12064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FFFFFF"/>
                </a:solidFill>
                <a:latin typeface="Segoe UI"/>
              </a:rPr>
              <a:t>Small field teams: film crews, event teams, agencies, site crews.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FFFFFF"/>
                </a:solidFill>
                <a:latin typeface="Segoe UI"/>
              </a:rPr>
              <a:t>Many clients at once, across email, WhatsApp and conversations on set.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FFFFFF"/>
                </a:solidFill>
                <a:latin typeface="Segoe UI"/>
              </a:rPr>
              <a:t>Often somewhere with no signal at all.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FFFFFF"/>
                </a:solidFill>
                <a:latin typeface="Segoe UI"/>
              </a:rPr>
              <a:t>Nobody notices the mismatch until it's too late.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9AA4B2"/>
                </a:solidFill>
                <a:latin typeface="Segoe UI"/>
              </a:rPr>
              <a:t>Cloud assistants need a connection, and would have to read everything. That data shouldn't leave the device.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7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7C8CFF"/>
                </a:solidFill>
                <a:latin typeface="Segoe UI"/>
              </a:rPr>
              <a:t>EMAIL  ·  from client:sharma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"Final delivery on the 16th."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4612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5A524"/>
                </a:solidFill>
                <a:latin typeface="Segoe UI"/>
              </a:rPr>
              <a:t>ON SET  ·  no signal  ·  Lakshya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"Sharma delivery is the 18th."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5488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2A1214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EF4444"/>
                </a:solidFill>
                <a:latin typeface="Segoe UI"/>
              </a:rPr>
              <a:t>Sharma delivery: 16th vs 18th. Which one is true?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9AA4B2"/>
                </a:solidFill>
                <a:latin typeface="Segoe UI"/>
              </a:rPr>
              <a:t>3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9AA4B2"/>
                </a:solidFill>
                <a:latin typeface="Segoe UI"/>
              </a:rPr>
              <a:t>QUORUM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Segoe UI"/>
              </a:rPr>
              <a:t>WHAT QUORUM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A shared, offline-first memory layer for small teams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900" b="1" i="0">
                <a:solidFill>
                  <a:srgbClr val="F5A524"/>
                </a:solidFill>
                <a:latin typeface="Segoe UI"/>
              </a:rPr>
              <a:t>Every laptop is a full edge node</a:t>
            </a:r>
          </a:p>
          <a:p>
            <a:pPr algn="l"/>
            <a:r>
              <a:rPr sz="1500" b="0" i="0">
                <a:solidFill>
                  <a:srgbClr val="9AA4B2"/>
                </a:solidFill>
                <a:latin typeface="Segoe UI"/>
              </a:rPr>
              <a:t>Hybrid search, extraction and answers run on-device. Works with zero signal.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7830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900" b="1" i="0">
                <a:solidFill>
                  <a:srgbClr val="22C55E"/>
                </a:solidFill>
                <a:latin typeface="Segoe UI"/>
              </a:rPr>
              <a:t>Syncs when it reconnects</a:t>
            </a:r>
          </a:p>
          <a:p>
            <a:pPr algn="l"/>
            <a:r>
              <a:rPr sz="1500" b="0" i="0">
                <a:solidFill>
                  <a:srgbClr val="9AA4B2"/>
                </a:solidFill>
                <a:latin typeface="Segoe UI"/>
              </a:rPr>
              <a:t>A persistent outbox survives restarts and drains to the team 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7830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900" b="1" i="0">
                <a:solidFill>
                  <a:srgbClr val="EF4444"/>
                </a:solidFill>
                <a:latin typeface="Segoe UI"/>
              </a:rPr>
              <a:t>Never silently picks a winner</a:t>
            </a:r>
          </a:p>
          <a:p>
            <a:pPr algn="l"/>
            <a:r>
              <a:rPr sz="1500" b="0" i="0">
                <a:solidFill>
                  <a:srgbClr val="9AA4B2"/>
                </a:solidFill>
                <a:latin typeface="Segoe UI"/>
              </a:rPr>
              <a:t>When teammates' facts disagree, Qdrant surfaces the conflict and the task owner resolves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106424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Your team's memory, on every laptop, even with no signal.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Segoe UI"/>
              </a:rPr>
              <a:t>It reads everything, and nothing leaves unless it's work your team needs.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Segoe UI"/>
              </a:rPr>
              <a:t>When two people disagree about a deadline, it asks instead of guessing.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9AA4B2"/>
                </a:solidFill>
                <a:latin typeface="Segoe UI"/>
              </a:rPr>
              <a:t>4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9AA4B2"/>
                </a:solidFill>
                <a:latin typeface="Segoe UI"/>
              </a:rPr>
              <a:t>QUORUM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7C8CF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Two edge laptops, one home hub, sync when online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291840" cy="301752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2540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F5A524"/>
                </a:solidFill>
                <a:latin typeface="Segoe UI"/>
              </a:rPr>
              <a:t>Laptop A  ·  edge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Qdrant Edge (vector memory)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07791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FastEmbed: dense + BM25 sparse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83863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SQLite: graph + outbox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59935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Local LLM (llama.cpp / Ollama)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37360"/>
            <a:ext cx="3291840" cy="301752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2540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828800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F5A524"/>
                </a:solidFill>
                <a:latin typeface="Segoe UI"/>
              </a:rPr>
              <a:t>Laptop B  ·  edge node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19" y="233172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Qdrant Edge (vector memory)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19" y="2907791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FastEmbed: dense + BM25 sparse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19" y="3483863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SQLite: graph + outbox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19" y="4059935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0A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Local LLM (llama.cpp / Ollama)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423160"/>
            <a:ext cx="3108960" cy="164592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22C55E"/>
                </a:solidFill>
                <a:latin typeface="Segoe UI"/>
              </a:rPr>
              <a:t>Home hub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Qdrant Server (Docker)</a:t>
            </a:r>
          </a:p>
          <a:p>
            <a:pPr algn="ctr"/>
            <a:r>
              <a:rPr sz="1200" b="0" i="0">
                <a:solidFill>
                  <a:srgbClr val="9AA4B2"/>
                </a:solidFill>
                <a:latin typeface="Segoe UI"/>
              </a:rPr>
              <a:t>my-devices + team tiers only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0" y="3246120"/>
            <a:ext cx="685800" cy="0"/>
          </a:xfrm>
          <a:prstGeom prst="line">
            <a:avLst/>
          </a:prstGeom>
          <a:ln w="31750">
            <a:solidFill>
              <a:srgbClr val="22C55E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35240" y="3246120"/>
            <a:ext cx="685800" cy="0"/>
          </a:xfrm>
          <a:prstGeom prst="line">
            <a:avLst/>
          </a:prstGeom>
          <a:ln w="31750">
            <a:solidFill>
              <a:srgbClr val="22C55E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26280" y="201168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22C55E"/>
                </a:solidFill>
                <a:latin typeface="Segoe UI"/>
              </a:rPr>
              <a:t>sync when online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57800"/>
            <a:ext cx="1463040" cy="54864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7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Gmail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5257800"/>
            <a:ext cx="1691640" cy="54864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7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WhatsApp export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280160" y="4754880"/>
            <a:ext cx="0" cy="502920"/>
          </a:xfrm>
          <a:prstGeom prst="line">
            <a:avLst/>
          </a:prstGeom>
          <a:ln w="25400">
            <a:solidFill>
              <a:srgbClr val="7C8C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990088" y="4754880"/>
            <a:ext cx="0" cy="502920"/>
          </a:xfrm>
          <a:prstGeom prst="line">
            <a:avLst/>
          </a:prstGeom>
          <a:ln w="25400">
            <a:solidFill>
              <a:srgbClr val="7C8C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585216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9AA4B2"/>
                </a:solidFill>
                <a:latin typeface="Segoe UI"/>
              </a:rPr>
              <a:t>read-only, cached locally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5257800"/>
            <a:ext cx="2286000" cy="5486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9AA4B2"/>
                </a:solidFill>
                <a:latin typeface="Segoe UI"/>
              </a:rPr>
              <a:t>Phone (mocked)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3840480" y="4480560"/>
            <a:ext cx="1097280" cy="1051560"/>
          </a:xfrm>
          <a:prstGeom prst="line">
            <a:avLst/>
          </a:prstGeom>
          <a:ln w="19050">
            <a:solidFill>
              <a:srgbClr val="9AA4B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863840" y="5257800"/>
            <a:ext cx="38404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AA4B2"/>
                </a:solidFill>
                <a:latin typeface="Segoe UI"/>
              </a:rPr>
              <a:t>Edge app shell: Tauri (Rust + TypeScript)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A524"/>
                </a:solidFill>
                <a:latin typeface="Segoe UI"/>
              </a:rPr>
              <a:t>Private path makes no cloud calls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9AA4B2"/>
                </a:solidFill>
                <a:latin typeface="Segoe UI"/>
              </a:rPr>
              <a:t>5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9AA4B2"/>
                </a:solidFill>
                <a:latin typeface="Segoe UI"/>
              </a:rPr>
              <a:t>QUORUM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7C8CFF"/>
                </a:solidFill>
                <a:latin typeface="Segoe UI"/>
              </a:rPr>
              <a:t>MEMORY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Claims, not facts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760720" cy="443484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7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onsolas"/>
              </a:rPr>
              <a:t>  "entity_id": "task_sharma_edit",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onsolas"/>
              </a:rPr>
              <a:t>  "attribute": "due_date",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onsolas"/>
              </a:rPr>
              <a:t>  "value": "2026-10-16",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onsolas"/>
              </a:rPr>
              <a:t>  "source": {"kind": "email",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onsolas"/>
              </a:rPr>
              <a:t>             "author": "client:sharma"},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onsolas"/>
              </a:rPr>
              <a:t>  "stated_at": "2026-10-03T11:20+05:30",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onsolas"/>
              </a:rPr>
              <a:t>  "captured_by": "lakshya",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onsolas"/>
              </a:rPr>
              <a:t>  "tier": "team",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onsolas"/>
              </a:rPr>
              <a:t>  "status": "active",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onsolas"/>
              </a:rPr>
              <a:t>  "conflict_id": null,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onsolas"/>
              </a:rPr>
              <a:t>  "version": 1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691640"/>
            <a:ext cx="493776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Every fact is stored with its source.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9AA4B2"/>
                </a:solidFill>
                <a:latin typeface="Segoe UI"/>
              </a:rPr>
              <a:t>Who said it, where, when, on which device.</a:t>
            </a:r>
          </a:p>
        </p:txBody>
      </p:sp>
      <p:sp>
        <p:nvSpPr>
          <p:cNvPr id="8" name="Oval 7"/>
          <p:cNvSpPr/>
          <p:nvPr/>
        </p:nvSpPr>
        <p:spPr>
          <a:xfrm>
            <a:off x="6720840" y="3136391"/>
            <a:ext cx="219456" cy="21945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3017520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  <a:latin typeface="Consolas"/>
              </a:rPr>
              <a:t>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044951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9AA4B2"/>
                </a:solidFill>
                <a:latin typeface="Segoe UI"/>
              </a:rPr>
              <a:t>current accepted value</a:t>
            </a:r>
          </a:p>
        </p:txBody>
      </p:sp>
      <p:sp>
        <p:nvSpPr>
          <p:cNvPr id="11" name="Oval 10"/>
          <p:cNvSpPr/>
          <p:nvPr/>
        </p:nvSpPr>
        <p:spPr>
          <a:xfrm>
            <a:off x="6720840" y="3703320"/>
            <a:ext cx="219456" cy="21945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3584448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EF4444"/>
                </a:solidFill>
                <a:latin typeface="Consolas"/>
              </a:rPr>
              <a:t>disputed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611879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9AA4B2"/>
                </a:solidFill>
                <a:latin typeface="Segoe UI"/>
              </a:rPr>
              <a:t>open conflict, both shown</a:t>
            </a:r>
          </a:p>
        </p:txBody>
      </p:sp>
      <p:sp>
        <p:nvSpPr>
          <p:cNvPr id="14" name="Oval 13"/>
          <p:cNvSpPr/>
          <p:nvPr/>
        </p:nvSpPr>
        <p:spPr>
          <a:xfrm>
            <a:off x="6720840" y="4270248"/>
            <a:ext cx="219456" cy="219456"/>
          </a:xfrm>
          <a:prstGeom prst="ellipse">
            <a:avLst/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4151376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9AA4B2"/>
                </a:solidFill>
                <a:latin typeface="Consolas"/>
              </a:rPr>
              <a:t>superseded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178808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9AA4B2"/>
                </a:solidFill>
                <a:latin typeface="Segoe UI"/>
              </a:rPr>
              <a:t>kept for history</a:t>
            </a:r>
          </a:p>
        </p:txBody>
      </p:sp>
      <p:sp>
        <p:nvSpPr>
          <p:cNvPr id="17" name="Oval 16"/>
          <p:cNvSpPr/>
          <p:nvPr/>
        </p:nvSpPr>
        <p:spPr>
          <a:xfrm>
            <a:off x="6720840" y="4837176"/>
            <a:ext cx="219456" cy="219456"/>
          </a:xfrm>
          <a:prstGeom prst="ellipse">
            <a:avLst/>
          </a:prstGeom>
          <a:solidFill>
            <a:srgbClr val="7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4718304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7C8CFF"/>
                </a:solidFill>
                <a:latin typeface="Consolas"/>
              </a:rPr>
              <a:t>retracted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745736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9AA4B2"/>
                </a:solidFill>
                <a:latin typeface="Segoe UI"/>
              </a:rPr>
              <a:t>withdrawn by its author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394960"/>
            <a:ext cx="4937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9AA4B2"/>
                </a:solidFill>
                <a:latin typeface="Segoe UI"/>
              </a:rPr>
              <a:t>Graph in SQLite: Person, Project, Task, Event, Source. Vectors in Qdrant Edge: dense + BM25 per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9AA4B2"/>
                </a:solidFill>
                <a:latin typeface="Segoe UI"/>
              </a:rPr>
              <a:t>6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9AA4B2"/>
                </a:solidFill>
                <a:latin typeface="Segoe UI"/>
              </a:rPr>
              <a:t>QUORUM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7C8CFF"/>
                </a:solidFill>
                <a:latin typeface="Segoe UI"/>
              </a:rPr>
              <a:t>QDRANT'S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Qdrant does the conflict detection and enforces privacy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5A524"/>
                </a:solidFill>
                <a:latin typeface="Segoe UI"/>
              </a:rPr>
              <a:t>New claim</a:t>
            </a:r>
          </a:p>
          <a:p>
            <a:pPr algn="ctr"/>
            <a:r>
              <a:rPr sz="1300" b="0" i="0">
                <a:solidFill>
                  <a:srgbClr val="9AA4B2"/>
                </a:solidFill>
                <a:latin typeface="Segoe UI"/>
              </a:rPr>
              <a:t>Sharma delivery = 18th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441448"/>
            <a:ext cx="411480" cy="0"/>
          </a:xfrm>
          <a:prstGeom prst="line">
            <a:avLst/>
          </a:prstGeom>
          <a:ln w="25400">
            <a:solidFill>
              <a:srgbClr val="9AA4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43400" y="173736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7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7C8CFF"/>
                </a:solidFill>
                <a:latin typeface="Segoe UI"/>
              </a:rPr>
              <a:t>Filtered hybrid search</a:t>
            </a:r>
          </a:p>
          <a:p>
            <a:pPr algn="ctr"/>
            <a:r>
              <a:rPr sz="1300" b="0" i="0">
                <a:solidFill>
                  <a:srgbClr val="9AA4B2"/>
                </a:solidFill>
                <a:latin typeface="Segoe UI"/>
              </a:rPr>
              <a:t>dense + BM25, filter: attribute = due_date, status = active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26679" y="2441448"/>
            <a:ext cx="411481" cy="0"/>
          </a:xfrm>
          <a:prstGeom prst="line">
            <a:avLst/>
          </a:prstGeom>
          <a:ln w="25400">
            <a:solidFill>
              <a:srgbClr val="9AA4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38160" y="173736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EF4444"/>
                </a:solidFill>
                <a:latin typeface="Segoe UI"/>
              </a:rPr>
              <a:t>Close match, different value</a:t>
            </a:r>
          </a:p>
          <a:p>
            <a:pPr algn="ctr"/>
            <a:r>
              <a:rPr sz="1300" b="0" i="0">
                <a:solidFill>
                  <a:srgbClr val="9AA4B2"/>
                </a:solidFill>
                <a:latin typeface="Segoe UI"/>
              </a:rPr>
              <a:t>Conflict opened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2A1214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 i="1">
                <a:solidFill>
                  <a:srgbClr val="FFFFFF"/>
                </a:solidFill>
                <a:latin typeface="Segoe UI"/>
              </a:rPr>
              <a:t>"Found 2 claims about the Sharma delivery, similarity 0.91. Dates disagree."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22C55E"/>
                </a:solidFill>
                <a:latin typeface="Segoe UI"/>
              </a:rPr>
              <a:t>Tier filter on every search</a:t>
            </a:r>
          </a:p>
          <a:p>
            <a:pPr algn="l"/>
            <a:r>
              <a:rPr sz="1500" b="0" i="0">
                <a:solidFill>
                  <a:srgbClr val="9AA4B2"/>
                </a:solidFill>
                <a:latin typeface="Segoe UI"/>
              </a:rPr>
              <a:t>Every Qdrant query carries a payload filter on tier, so shared views can never surface device-only claims.</a:t>
            </a:r>
          </a:p>
          <a:p>
            <a:pPr algn="l"/>
            <a:r>
              <a:rPr sz="1500" b="0" i="0">
                <a:solidFill>
                  <a:srgbClr val="9AA4B2"/>
                </a:solidFill>
                <a:latin typeface="Segoe UI"/>
              </a:rPr>
              <a:t>Detected at ingest, and at sync when claims from separate offline devices meet for the first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9AA4B2"/>
                </a:solidFill>
                <a:latin typeface="Segoe UI"/>
              </a:rPr>
              <a:t>7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9AA4B2"/>
                </a:solidFill>
                <a:latin typeface="Segoe UI"/>
              </a:rPr>
              <a:t>QUORUM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Segoe UI"/>
              </a:rPr>
              <a:t>CONFLICT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The owner decides. Nothing is deleted.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EF4444"/>
                </a:solidFill>
                <a:latin typeface="Segoe UI"/>
              </a:rPr>
              <a:t>Detected</a:t>
            </a:r>
          </a:p>
          <a:p>
            <a:pPr algn="ctr"/>
            <a:r>
              <a:rPr sz="1300" b="0" i="0">
                <a:solidFill>
                  <a:srgbClr val="9AA4B2"/>
                </a:solidFill>
                <a:latin typeface="Segoe UI"/>
              </a:rPr>
              <a:t>at ingest or at 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8308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2540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F5A524"/>
                </a:solidFill>
                <a:latin typeface="Segoe UI"/>
              </a:rPr>
              <a:t>Open</a:t>
            </a:r>
          </a:p>
          <a:p>
            <a:pPr algn="ctr"/>
            <a:r>
              <a:rPr sz="1300" b="0" i="0">
                <a:solidFill>
                  <a:srgbClr val="9AA4B2"/>
                </a:solidFill>
                <a:latin typeface="Segoe UI"/>
              </a:rPr>
              <a:t>both claims disputed; answers show both +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25400">
            <a:solidFill>
              <a:srgbClr val="7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7C8CFF"/>
                </a:solidFill>
                <a:latin typeface="Segoe UI"/>
              </a:rPr>
              <a:t>Owner resolves</a:t>
            </a:r>
          </a:p>
          <a:p>
            <a:pPr algn="ctr"/>
            <a:r>
              <a:rPr sz="1300" b="0" i="0">
                <a:solidFill>
                  <a:srgbClr val="9AA4B2"/>
                </a:solidFill>
                <a:latin typeface="Segoe UI"/>
              </a:rPr>
              <a:t>picks or corrects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178308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22C55E"/>
                </a:solidFill>
                <a:latin typeface="Segoe UI"/>
              </a:rPr>
              <a:t>Resolved</a:t>
            </a:r>
          </a:p>
          <a:p>
            <a:pPr algn="ctr"/>
            <a:r>
              <a:rPr sz="1300" b="0" i="0">
                <a:solidFill>
                  <a:srgbClr val="9AA4B2"/>
                </a:solidFill>
                <a:latin typeface="Segoe UI"/>
              </a:rPr>
              <a:t>chosen claim active, other superseded (kept)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2560320"/>
            <a:ext cx="457200" cy="0"/>
          </a:xfrm>
          <a:prstGeom prst="line">
            <a:avLst/>
          </a:prstGeom>
          <a:ln w="25400">
            <a:solidFill>
              <a:srgbClr val="9AA4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2560320"/>
            <a:ext cx="457200" cy="0"/>
          </a:xfrm>
          <a:prstGeom prst="line">
            <a:avLst/>
          </a:prstGeom>
          <a:ln w="25400">
            <a:solidFill>
              <a:srgbClr val="9AA4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32520" y="2560320"/>
            <a:ext cx="457200" cy="0"/>
          </a:xfrm>
          <a:prstGeom prst="line">
            <a:avLst/>
          </a:prstGeom>
          <a:ln w="25400">
            <a:solidFill>
              <a:srgbClr val="9AA4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46320" y="3977639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7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7C8CFF"/>
                </a:solidFill>
                <a:latin typeface="Segoe UI"/>
              </a:rPr>
              <a:t>Ask teammate</a:t>
            </a:r>
          </a:p>
          <a:p>
            <a:pPr algn="ctr"/>
            <a:r>
              <a:rPr sz="1300" b="0" i="0">
                <a:solidFill>
                  <a:srgbClr val="9AA4B2"/>
                </a:solidFill>
                <a:latin typeface="Segoe UI"/>
              </a:rPr>
              <a:t>"Should I ask Lakshya?" Drafts it, sends only on yes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17720" y="3337560"/>
            <a:ext cx="777240" cy="640079"/>
          </a:xfrm>
          <a:prstGeom prst="line">
            <a:avLst/>
          </a:prstGeom>
          <a:ln w="19050">
            <a:solidFill>
              <a:srgbClr val="9AA4B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77440" y="352044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9AA4B2"/>
                </a:solidFill>
                <a:latin typeface="Segoe UI"/>
              </a:rPr>
              <a:t>owner hasn't answered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955279" y="3337560"/>
            <a:ext cx="2423161" cy="1188720"/>
          </a:xfrm>
          <a:prstGeom prst="line">
            <a:avLst/>
          </a:prstGeom>
          <a:ln w="19050">
            <a:solidFill>
              <a:srgbClr val="9AA4B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52560" y="416052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9AA4B2"/>
                </a:solidFill>
                <a:latin typeface="Segoe UI"/>
              </a:rPr>
              <a:t>reply confirms a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1">
                <a:solidFill>
                  <a:srgbClr val="F5A524"/>
                </a:solidFill>
                <a:latin typeface="Segoe UI"/>
              </a:rPr>
              <a:t>"Disputed. The client's email says the 16th; you said the 18th on set."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9AA4B2"/>
                </a:solidFill>
                <a:latin typeface="Segoe UI"/>
              </a:rPr>
              <a:t>8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9AA4B2"/>
                </a:solidFill>
                <a:latin typeface="Segoe UI"/>
              </a:rPr>
              <a:t>QUORUM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5A524"/>
                </a:solidFill>
                <a:latin typeface="Segoe UI"/>
              </a:rPr>
              <a:t>SYNC TIERS +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Everything starts device-only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9AA4B2"/>
                </a:solidFill>
                <a:latin typeface="Segoe UI"/>
              </a:rPr>
              <a:t>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459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9AA4B2"/>
                </a:solidFill>
                <a:latin typeface="Segoe UI"/>
              </a:rPr>
              <a:t>STORED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64592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9AA4B2"/>
                </a:solidFill>
                <a:latin typeface="Segoe UI"/>
              </a:rPr>
              <a:t>SYNCS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9AA4B2"/>
                </a:solidFill>
                <a:latin typeface="Segoe UI"/>
              </a:rPr>
              <a:t>EXAMPLES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73152" cy="56692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1965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F5A524"/>
                </a:solidFill>
                <a:latin typeface="Segoe UI"/>
              </a:rPr>
              <a:t>Device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14884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This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148840"/>
            <a:ext cx="2240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Nowhere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148840"/>
            <a:ext cx="37033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Personal finances, window titles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15768"/>
            <a:ext cx="73152" cy="566928"/>
          </a:xfrm>
          <a:prstGeom prst="rect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807208"/>
            <a:ext cx="1965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7C8CFF"/>
                </a:solidFill>
                <a:latin typeface="Segoe UI"/>
              </a:rPr>
              <a:t>My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807208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My devices +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807208"/>
            <a:ext cx="2240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My other devices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807208"/>
            <a:ext cx="37033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Personal schedule, birthdays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374136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374136"/>
            <a:ext cx="73152" cy="5669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465576"/>
            <a:ext cx="1965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Segoe UI"/>
              </a:rPr>
              <a:t>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465576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All team devices + 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3465576"/>
            <a:ext cx="2240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Whole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3465576"/>
            <a:ext cx="37033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Client deadlines, shoot schedules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9AA4B2"/>
                </a:solidFill>
                <a:latin typeface="Segoe UI"/>
              </a:rPr>
              <a:t>A claim moves up a tier only when the local model classifies it that way. Unsure? It stays on the device.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0916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1" i="0">
                <a:solidFill>
                  <a:srgbClr val="F5A524"/>
                </a:solidFill>
                <a:latin typeface="Segoe UI"/>
              </a:rPr>
              <a:t>Persistent outbox</a:t>
            </a:r>
          </a:p>
          <a:p>
            <a:pPr algn="l"/>
            <a:r>
              <a:rPr sz="1200" b="0" i="0">
                <a:solidFill>
                  <a:srgbClr val="9AA4B2"/>
                </a:solidFill>
                <a:latin typeface="Segoe UI"/>
              </a:rPr>
              <a:t>Dual write + background worker with retries; survives restarts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70916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1" i="0">
                <a:solidFill>
                  <a:srgbClr val="22C55E"/>
                </a:solidFill>
                <a:latin typeface="Segoe UI"/>
              </a:rPr>
              <a:t>Partial snapshots</a:t>
            </a:r>
          </a:p>
          <a:p>
            <a:pPr algn="l"/>
            <a:r>
              <a:rPr sz="1200" b="0" i="0">
                <a:solidFill>
                  <a:srgbClr val="9AA4B2"/>
                </a:solidFill>
                <a:latin typeface="Segoe UI"/>
              </a:rPr>
              <a:t>Down-sync sends only changed segments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79" y="470916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7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1" i="0">
                <a:solidFill>
                  <a:srgbClr val="7C8CFF"/>
                </a:solidFill>
                <a:latin typeface="Segoe UI"/>
              </a:rPr>
              <a:t>No cloud calls</a:t>
            </a:r>
          </a:p>
          <a:p>
            <a:pPr algn="l"/>
            <a:r>
              <a:rPr sz="1200" b="0" i="0">
                <a:solidFill>
                  <a:srgbClr val="9AA4B2"/>
                </a:solidFill>
                <a:latin typeface="Segoe UI"/>
              </a:rPr>
              <a:t>Extraction, classification and answers run on the local model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399" y="470916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500" b="1" i="0">
                <a:solidFill>
                  <a:srgbClr val="EF4444"/>
                </a:solidFill>
                <a:latin typeface="Segoe UI"/>
              </a:rPr>
              <a:t>Encrypted at rest</a:t>
            </a:r>
          </a:p>
          <a:p>
            <a:pPr algn="l"/>
            <a:r>
              <a:rPr sz="1200" b="0" i="0">
                <a:solidFill>
                  <a:srgbClr val="9AA4B2"/>
                </a:solidFill>
                <a:latin typeface="Segoe UI"/>
              </a:rPr>
              <a:t>Memory, graph and outbox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9AA4B2"/>
                </a:solidFill>
                <a:latin typeface="Segoe UI"/>
              </a:rPr>
              <a:t>9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9AA4B2"/>
                </a:solidFill>
                <a:latin typeface="Segoe UI"/>
              </a:rPr>
              <a:t>QUORUM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7C8CFF"/>
                </a:solidFill>
                <a:latin typeface="Segoe UI"/>
              </a:rPr>
              <a:t>DEMO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Two physical laptops: one offline, one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12064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1.  Tanishk's laptop goes offline (airplane mode, network monitor at 0 B/s). Search still answers on-device.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2.  Offline, Tanishk types a quick note: "Client says push the Sharma delivery to the 18th". It shows amber, outbox 1.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3.  Meanwhile Lakshya's laptop, still online, gets the client email: "delivery confirmed for the 16th".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4.  Tanishk reconnects, the outbox drains, and Qdrant flags "2 claims, similarity 0.91, dates disagree".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5.  The owner is asked, no guessing: "Should I ask the client?" Draft, send on yes, resolved on both laptops.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91640"/>
            <a:ext cx="2788920" cy="457200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A0E16"/>
                </a:solidFill>
                <a:latin typeface="Segoe UI"/>
              </a:rPr>
              <a:t>REAL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91640"/>
            <a:ext cx="2788920" cy="457200"/>
          </a:xfrm>
          <a:prstGeom prst="roundRect">
            <a:avLst>
              <a:gd name="adj" fmla="val 8000"/>
            </a:avLst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A0E16"/>
                </a:solidFill>
                <a:latin typeface="Segoe UI"/>
              </a:rPr>
              <a:t>MOCKED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240280"/>
            <a:ext cx="2788920" cy="530352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Qdrant Edge memory + hybrid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240280"/>
            <a:ext cx="2788920" cy="530352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9AA4B2"/>
                </a:solidFill>
                <a:latin typeface="Segoe UI"/>
              </a:rPr>
              <a:t>Phone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843784"/>
            <a:ext cx="2788920" cy="530352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Conflict detection + tier filters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843784"/>
            <a:ext cx="2788920" cy="530352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9AA4B2"/>
                </a:solidFill>
                <a:latin typeface="Segoe UI"/>
              </a:rPr>
              <a:t>Live WhatsApp stream (replayed)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447288"/>
            <a:ext cx="2788920" cy="530352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Offline on two physical laptops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3447288"/>
            <a:ext cx="2788920" cy="530352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9AA4B2"/>
                </a:solidFill>
                <a:latin typeface="Segoe UI"/>
              </a:rPr>
              <a:t>Screen understanding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050791"/>
            <a:ext cx="2788920" cy="530352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Hub sync, outbox, partial snapshots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4050791"/>
            <a:ext cx="2788920" cy="530352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9AA4B2"/>
                </a:solidFill>
                <a:latin typeface="Segoe UI"/>
              </a:rPr>
              <a:t>Task execution beyond reminders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4654296"/>
            <a:ext cx="2788920" cy="530352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Conflict ownership + resolution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4654296"/>
            <a:ext cx="2788920" cy="530352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9AA4B2"/>
                </a:solidFill>
                <a:latin typeface="Segoe UI"/>
              </a:rPr>
              <a:t>Long-term pattern learning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5257800"/>
            <a:ext cx="2788920" cy="530352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Gmail, WhatsApp export, typed notes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5257800"/>
            <a:ext cx="2788920" cy="530352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9AA4B2"/>
                </a:solidFill>
                <a:latin typeface="Segoe UI"/>
              </a:rPr>
              <a:t>Voice (stretch goal)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9AA4B2"/>
                </a:solidFill>
                <a:latin typeface="Segoe UI"/>
              </a:rPr>
              <a:t>10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9AA4B2"/>
                </a:solidFill>
                <a:latin typeface="Segoe UI"/>
              </a:rPr>
              <a:t>QUORUM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Segoe UI"/>
              </a:rPr>
              <a:t>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Small teams, priced per team per month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800" b="1" i="0">
                <a:solidFill>
                  <a:srgbClr val="F5A524"/>
                </a:solidFill>
                <a:latin typeface="Segoe UI"/>
              </a:rPr>
              <a:t>Who</a:t>
            </a:r>
          </a:p>
          <a:p>
            <a:pPr algn="l"/>
            <a:r>
              <a:rPr sz="1500" b="0" i="0">
                <a:solidFill>
                  <a:srgbClr val="9AA4B2"/>
                </a:solidFill>
                <a:latin typeface="Segoe UI"/>
              </a:rPr>
              <a:t>Small field teams: film crews, event teams, agencies, site crews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7373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800" b="1" i="0">
                <a:solidFill>
                  <a:srgbClr val="22C55E"/>
                </a:solidFill>
                <a:latin typeface="Segoe UI"/>
              </a:rPr>
              <a:t>Model</a:t>
            </a:r>
          </a:p>
          <a:p>
            <a:pPr algn="l"/>
            <a:r>
              <a:rPr sz="1500" b="0" i="0">
                <a:solidFill>
                  <a:srgbClr val="9AA4B2"/>
                </a:solidFill>
                <a:latin typeface="Segoe UI"/>
              </a:rPr>
              <a:t>Per team, per month. One small home hub per team.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7373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31925"/>
          </a:solidFill>
          <a:ln w="19050">
            <a:solidFill>
              <a:srgbClr val="7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800" b="1" i="0">
                <a:solidFill>
                  <a:srgbClr val="7C8CFF"/>
                </a:solidFill>
                <a:latin typeface="Segoe UI"/>
              </a:rPr>
              <a:t>Customer zero</a:t>
            </a:r>
          </a:p>
          <a:p>
            <a:pPr algn="l"/>
            <a:r>
              <a:rPr sz="1500" b="0" i="0">
                <a:solidFill>
                  <a:srgbClr val="9AA4B2"/>
                </a:solidFill>
                <a:latin typeface="Segoe UI"/>
              </a:rPr>
              <a:t>Us: a 4-person media team with frequent no-signal shoots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06424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Shared memory for small teams that work where the signal doesn't.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0" i="0">
                <a:solidFill>
                  <a:srgbClr val="9AA4B2"/>
                </a:solidFill>
                <a:latin typeface="Segoe UI"/>
              </a:rPr>
              <a:t>The same layer works for any device that must remember offline.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0" i="0">
                <a:solidFill>
                  <a:srgbClr val="7C8CFF"/>
                </a:solidFill>
                <a:latin typeface="Consolas"/>
              </a:rPr>
              <a:t>github.com/ImTani/quorum-edge-memory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